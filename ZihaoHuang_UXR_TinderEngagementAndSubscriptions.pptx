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c116f1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ec116f16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c116f16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ec116f16e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c116f16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ec116f16e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c116f16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ec116f16e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ec116f16e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ec116f16e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c116f16e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ec116f16e_0_5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c116f16e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ec116f16e_0_7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ec116f16e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ec116f16e_0_8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c116f16e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ec116f16e_0_8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c116f16e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ec116f16e_0_9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ec116f16e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ec116f16e_0_1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c116f16e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aec116f16e_0_1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ec116f16e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ec116f16e_0_1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ec116f16e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aec116f16e_0_14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ec116f16e_0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aec116f16e_0_15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ec116f16e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aec116f16e_0_16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ec116f16e_0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aec116f16e_0_17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ec116f16e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aec116f16e_0_18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ec116f16e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aec116f16e_0_19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ec116f16e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aec116f16e_0_20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ec116f16e_0_2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aec116f16e_0_25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ec116f16e_0_2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aec116f16e_0_25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ec116f16e_0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aec116f16e_0_2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ec116f16e_0_2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aec116f16e_0_2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ec116f16e_0_2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aec116f16e_0_2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ec116f16e_0_2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aec116f16e_0_23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571500" y="1579550"/>
            <a:ext cx="1864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D3C7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UX RESEARCH </a:t>
            </a:r>
            <a:r>
              <a:rPr i="0" lang="en" sz="1100" u="none" cap="none" strike="noStrike">
                <a:solidFill>
                  <a:srgbClr val="FD3C7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</a:t>
            </a:r>
            <a:endParaRPr sz="1100">
              <a:solidFill>
                <a:srgbClr val="FD3C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571500" y="1879587"/>
            <a:ext cx="60009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Tinder Engagement &amp; Subscriptions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71500" y="3261010"/>
            <a:ext cx="55935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A1A1A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Analysis of user behavior, emotional drivers, and monetization opportunities</a:t>
            </a:r>
            <a:endParaRPr i="0" sz="1400" u="none" cap="none" strike="noStrike">
              <a:solidFill>
                <a:srgbClr val="A1A1AA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A1A1AA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3C72"/>
                </a:solidFill>
                <a:latin typeface="Montserrat"/>
                <a:ea typeface="Montserrat"/>
                <a:cs typeface="Montserrat"/>
                <a:sym typeface="Montserrat"/>
              </a:rPr>
              <a:t>PROJECT LEAD: ZIHAO HUANG</a:t>
            </a:r>
            <a:endParaRPr b="1" sz="1100">
              <a:solidFill>
                <a:srgbClr val="FD3C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3C72"/>
                </a:solidFill>
                <a:latin typeface="Montserrat"/>
                <a:ea typeface="Montserrat"/>
                <a:cs typeface="Montserrat"/>
                <a:sym typeface="Montserrat"/>
              </a:rPr>
              <a:t>DECEMBER 2025</a:t>
            </a:r>
            <a:endParaRPr b="1" sz="1100">
              <a:solidFill>
                <a:srgbClr val="FD3C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0031" y="1432997"/>
            <a:ext cx="699552" cy="46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-142875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2238" y="942975"/>
            <a:ext cx="2619412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5963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1200150"/>
            <a:ext cx="2104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685800" y="1628775"/>
            <a:ext cx="246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Background &amp; Methodology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85800" y="2293144"/>
            <a:ext cx="2104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Project context, research objectives, and overview of the participant sample.</a:t>
            </a:r>
            <a:endParaRPr sz="1100"/>
          </a:p>
        </p:txBody>
      </p:sp>
      <p:pic>
        <p:nvPicPr>
          <p:cNvPr descr="image.png" id="147" name="Google Shape;14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9413" y="1200150"/>
            <a:ext cx="210506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3519413" y="1628775"/>
            <a:ext cx="221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3519413" y="2085975"/>
            <a:ext cx="210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Top-line takeaways covering conversation depth, habits, and premium value perception.</a:t>
            </a:r>
            <a:endParaRPr sz="1100"/>
          </a:p>
        </p:txBody>
      </p:sp>
      <p:pic>
        <p:nvPicPr>
          <p:cNvPr descr="image.png" id="150" name="Google Shape;150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53138" y="1200150"/>
            <a:ext cx="2104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6353138" y="1628775"/>
            <a:ext cx="2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Key Insights &amp; Recs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6353138" y="2085975"/>
            <a:ext cx="2104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Deep dive into 7 core insights with supporting data, user quotes, and design solutions.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Presentation Outline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570250" y="2291693"/>
            <a:ext cx="800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Background &amp; Methodology</a:t>
            </a:r>
            <a:endParaRPr sz="1100"/>
          </a:p>
        </p:txBody>
      </p:sp>
      <p:sp>
        <p:nvSpPr>
          <p:cNvPr id="161" name="Google Shape;161;p27"/>
          <p:cNvSpPr txBox="1"/>
          <p:nvPr/>
        </p:nvSpPr>
        <p:spPr>
          <a:xfrm>
            <a:off x="2825353" y="3384686"/>
            <a:ext cx="34935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Understanding the sample and research goals</a:t>
            </a:r>
            <a:endParaRPr sz="1100"/>
          </a:p>
        </p:txBody>
      </p:sp>
      <p:pic>
        <p:nvPicPr>
          <p:cNvPr descr="image.png" id="162" name="Google Shape;16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5515" y="1355861"/>
            <a:ext cx="892969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5516" y="3944775"/>
            <a:ext cx="892968" cy="59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4194" y="-142875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481" y="942975"/>
            <a:ext cx="277642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2388" y="942975"/>
            <a:ext cx="2843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685800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Research Context</a:t>
            </a:r>
            <a:endParaRPr sz="1100"/>
          </a:p>
        </p:txBody>
      </p:sp>
      <p:sp>
        <p:nvSpPr>
          <p:cNvPr id="173" name="Google Shape;173;p28"/>
          <p:cNvSpPr txBox="1"/>
          <p:nvPr/>
        </p:nvSpPr>
        <p:spPr>
          <a:xfrm>
            <a:off x="3429000" y="1199784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Core Objectives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909047" y="1611103"/>
            <a:ext cx="210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Focus on engagement depth and subscription</a:t>
            </a: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intentions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</p:txBody>
      </p:sp>
      <p:sp>
        <p:nvSpPr>
          <p:cNvPr id="175" name="Google Shape;175;p28"/>
          <p:cNvSpPr txBox="1"/>
          <p:nvPr/>
        </p:nvSpPr>
        <p:spPr>
          <a:xfrm>
            <a:off x="931106" y="2274525"/>
            <a:ext cx="2057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Investigating the gap between "matching" and "meaningful </a:t>
            </a: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conversation."</a:t>
            </a:r>
            <a:endParaRPr sz="1100"/>
          </a:p>
        </p:txBody>
      </p:sp>
      <p:sp>
        <p:nvSpPr>
          <p:cNvPr id="176" name="Google Shape;176;p28"/>
          <p:cNvSpPr txBox="1"/>
          <p:nvPr/>
        </p:nvSpPr>
        <p:spPr>
          <a:xfrm>
            <a:off x="909056" y="3242813"/>
            <a:ext cx="1947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Understanding the "habitual swiper" psychology.</a:t>
            </a:r>
            <a:endParaRPr sz="1100"/>
          </a:p>
        </p:txBody>
      </p:sp>
      <p:sp>
        <p:nvSpPr>
          <p:cNvPr id="177" name="Google Shape;177;p28"/>
          <p:cNvSpPr txBox="1"/>
          <p:nvPr/>
        </p:nvSpPr>
        <p:spPr>
          <a:xfrm>
            <a:off x="3735338" y="1605056"/>
            <a:ext cx="210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Retention: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Why do users drift into passive use?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3743287" y="2312550"/>
            <a:ext cx="20577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Emotion: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What drives initiation anxiety and fear of ghosting?</a:t>
            </a:r>
            <a:endParaRPr sz="1100"/>
          </a:p>
        </p:txBody>
      </p:sp>
      <p:sp>
        <p:nvSpPr>
          <p:cNvPr id="179" name="Google Shape;179;p28"/>
          <p:cNvSpPr txBox="1"/>
          <p:nvPr/>
        </p:nvSpPr>
        <p:spPr>
          <a:xfrm>
            <a:off x="3743269" y="3242813"/>
            <a:ext cx="2160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Monetization: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How is </a:t>
            </a: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"premium"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perceived vs. what users actually value?</a:t>
            </a:r>
            <a:endParaRPr sz="1100"/>
          </a:p>
        </p:txBody>
      </p:sp>
      <p:sp>
        <p:nvSpPr>
          <p:cNvPr id="180" name="Google Shape;180;p28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&amp; Objectives</a:t>
            </a:r>
            <a:endParaRPr sz="1100"/>
          </a:p>
        </p:txBody>
      </p:sp>
      <p:pic>
        <p:nvPicPr>
          <p:cNvPr descr="image.png" id="181" name="Google Shape;18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1657350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2338685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3242816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6856" y="1657350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6856" y="2338685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6828" y="3242807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4194" y="942966"/>
            <a:ext cx="2843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6263756" y="1130597"/>
            <a:ext cx="225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</a:t>
            </a:r>
            <a:endParaRPr sz="1100"/>
          </a:p>
        </p:txBody>
      </p:sp>
      <p:pic>
        <p:nvPicPr>
          <p:cNvPr descr="image.png" id="189" name="Google Shape;18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0856" y="1657341"/>
            <a:ext cx="135731" cy="16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6561619" y="1541813"/>
            <a:ext cx="2250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How do emotional barriers in the messaging process impact user engagement and retention</a:t>
            </a:r>
            <a:endParaRPr sz="1200">
              <a:solidFill>
                <a:srgbClr val="D4D4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91" name="Google Shape;19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0856" y="2857491"/>
            <a:ext cx="135731" cy="16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6562856" y="2785163"/>
            <a:ext cx="2324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What factors drive the perceived value of premium subscriptions, and how can AI assistance increase their desirability among users?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238" y="942975"/>
            <a:ext cx="2619412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63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1200150"/>
            <a:ext cx="2104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 txBox="1"/>
          <p:nvPr/>
        </p:nvSpPr>
        <p:spPr>
          <a:xfrm>
            <a:off x="685800" y="1628775"/>
            <a:ext cx="2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Quantitative Survey</a:t>
            </a:r>
            <a:endParaRPr sz="1100"/>
          </a:p>
        </p:txBody>
      </p:sp>
      <p:sp>
        <p:nvSpPr>
          <p:cNvPr id="203" name="Google Shape;203;p29"/>
          <p:cNvSpPr txBox="1"/>
          <p:nvPr/>
        </p:nvSpPr>
        <p:spPr>
          <a:xfrm>
            <a:off x="685800" y="2085975"/>
            <a:ext cx="21048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Measured user sentiment, feature awareness, su</a:t>
            </a: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bscription intentions, 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and usage frequency patterns.</a:t>
            </a:r>
            <a:endParaRPr sz="1100"/>
          </a:p>
        </p:txBody>
      </p:sp>
      <p:pic>
        <p:nvPicPr>
          <p:cNvPr descr="image.png" id="204" name="Google Shape;20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19413" y="1200150"/>
            <a:ext cx="210506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3519413" y="1628775"/>
            <a:ext cx="221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Follow-up</a:t>
            </a: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 Interviews</a:t>
            </a:r>
            <a:endParaRPr sz="1100"/>
          </a:p>
        </p:txBody>
      </p:sp>
      <p:sp>
        <p:nvSpPr>
          <p:cNvPr id="206" name="Google Shape;206;p29"/>
          <p:cNvSpPr txBox="1"/>
          <p:nvPr/>
        </p:nvSpPr>
        <p:spPr>
          <a:xfrm>
            <a:off x="3519413" y="2085975"/>
            <a:ext cx="210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Five in-depth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qualitative sessions to uncover emotional drivers and hidden pain points.</a:t>
            </a:r>
            <a:endParaRPr sz="1100"/>
          </a:p>
        </p:txBody>
      </p:sp>
      <p:pic>
        <p:nvPicPr>
          <p:cNvPr descr="image.png" id="207" name="Google Shape;20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3138" y="1200150"/>
            <a:ext cx="2104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6353138" y="1628775"/>
            <a:ext cx="2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 Analysis</a:t>
            </a:r>
            <a:endParaRPr sz="1100"/>
          </a:p>
        </p:txBody>
      </p:sp>
      <p:sp>
        <p:nvSpPr>
          <p:cNvPr id="209" name="Google Shape;209;p29"/>
          <p:cNvSpPr txBox="1"/>
          <p:nvPr/>
        </p:nvSpPr>
        <p:spPr>
          <a:xfrm>
            <a:off x="6353138" y="2085975"/>
            <a:ext cx="21048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Sorted quantitative data into visible patterns. 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Synthesized qualitative data into core behavioral themes and actionable design recommendations.</a:t>
            </a:r>
            <a:endParaRPr sz="1100"/>
          </a:p>
        </p:txBody>
      </p:sp>
      <p:sp>
        <p:nvSpPr>
          <p:cNvPr id="210" name="Google Shape;210;p29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Research Methodology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-142875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428625" y="4343400"/>
            <a:ext cx="8286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Orientation Mix: 9 Gay, </a:t>
            </a:r>
            <a:r>
              <a:rPr lang="en" sz="1100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26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Straight, 3 Bisexual | Relationship Status: </a:t>
            </a:r>
            <a:r>
              <a:rPr lang="en" sz="1100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Single, </a:t>
            </a:r>
            <a:r>
              <a:rPr lang="en" sz="1100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In Relationship, 1 Married</a:t>
            </a:r>
            <a:endParaRPr sz="1100"/>
          </a:p>
        </p:txBody>
      </p:sp>
      <p:sp>
        <p:nvSpPr>
          <p:cNvPr id="218" name="Google Shape;218;p30"/>
          <p:cNvSpPr txBox="1"/>
          <p:nvPr/>
        </p:nvSpPr>
        <p:spPr>
          <a:xfrm>
            <a:off x="933375" y="2093119"/>
            <a:ext cx="213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D297B"/>
                </a:solidFill>
                <a:latin typeface="Roboto Black"/>
                <a:ea typeface="Roboto Black"/>
                <a:cs typeface="Roboto Black"/>
                <a:sym typeface="Roboto Black"/>
              </a:rPr>
              <a:t>45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Total Participants</a:t>
            </a:r>
            <a:endParaRPr sz="1600"/>
          </a:p>
        </p:txBody>
      </p:sp>
      <p:sp>
        <p:nvSpPr>
          <p:cNvPr id="219" name="Google Shape;219;p30"/>
          <p:cNvSpPr txBox="1"/>
          <p:nvPr/>
        </p:nvSpPr>
        <p:spPr>
          <a:xfrm>
            <a:off x="3120637" y="2093119"/>
            <a:ext cx="29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D297B"/>
                </a:solidFill>
                <a:latin typeface="Roboto Black"/>
                <a:ea typeface="Roboto Black"/>
                <a:cs typeface="Roboto Black"/>
                <a:sym typeface="Roboto Black"/>
              </a:rPr>
              <a:t>38</a:t>
            </a: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Current</a:t>
            </a:r>
            <a:r>
              <a:rPr lang="en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/Recent</a:t>
            </a: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Users</a:t>
            </a:r>
            <a:endParaRPr sz="1300"/>
          </a:p>
        </p:txBody>
      </p:sp>
      <p:sp>
        <p:nvSpPr>
          <p:cNvPr id="220" name="Google Shape;220;p30"/>
          <p:cNvSpPr txBox="1"/>
          <p:nvPr/>
        </p:nvSpPr>
        <p:spPr>
          <a:xfrm>
            <a:off x="6403032" y="2078831"/>
            <a:ext cx="180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r>
              <a:rPr b="1" i="0" lang="en" sz="2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Male</a:t>
            </a:r>
            <a:endParaRPr sz="1100"/>
          </a:p>
        </p:txBody>
      </p:sp>
      <p:sp>
        <p:nvSpPr>
          <p:cNvPr id="221" name="Google Shape;221;p30"/>
          <p:cNvSpPr txBox="1"/>
          <p:nvPr/>
        </p:nvSpPr>
        <p:spPr>
          <a:xfrm>
            <a:off x="6403032" y="2414588"/>
            <a:ext cx="180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" sz="2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Female</a:t>
            </a:r>
            <a:endParaRPr sz="1100"/>
          </a:p>
        </p:txBody>
      </p:sp>
      <p:sp>
        <p:nvSpPr>
          <p:cNvPr id="222" name="Google Shape;222;p30"/>
          <p:cNvSpPr txBox="1"/>
          <p:nvPr/>
        </p:nvSpPr>
        <p:spPr>
          <a:xfrm>
            <a:off x="6403032" y="2857494"/>
            <a:ext cx="180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GENDER (RECENT USERS)</a:t>
            </a:r>
            <a:endParaRPr sz="1100"/>
          </a:p>
        </p:txBody>
      </p:sp>
      <p:sp>
        <p:nvSpPr>
          <p:cNvPr id="223" name="Google Shape;223;p30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Participant </a:t>
            </a: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Snapshot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4488" y="685800"/>
            <a:ext cx="3929063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/>
        </p:nvSpPr>
        <p:spPr>
          <a:xfrm>
            <a:off x="4411663" y="942975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Engagement Patterns</a:t>
            </a:r>
            <a:endParaRPr sz="1100"/>
          </a:p>
        </p:txBody>
      </p:sp>
      <p:sp>
        <p:nvSpPr>
          <p:cNvPr id="231" name="Google Shape;231;p31"/>
          <p:cNvSpPr txBox="1"/>
          <p:nvPr/>
        </p:nvSpPr>
        <p:spPr>
          <a:xfrm>
            <a:off x="4983163" y="1371600"/>
            <a:ext cx="284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~50%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of users do not open the app daily.</a:t>
            </a:r>
            <a:endParaRPr sz="1100"/>
          </a:p>
        </p:txBody>
      </p:sp>
      <p:sp>
        <p:nvSpPr>
          <p:cNvPr id="232" name="Google Shape;232;p31"/>
          <p:cNvSpPr txBox="1"/>
          <p:nvPr/>
        </p:nvSpPr>
        <p:spPr>
          <a:xfrm>
            <a:off x="4983163" y="1801564"/>
            <a:ext cx="2843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~44%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open 1–10 times/day (Casual checking).</a:t>
            </a:r>
            <a:endParaRPr sz="1100"/>
          </a:p>
        </p:txBody>
      </p:sp>
      <p:sp>
        <p:nvSpPr>
          <p:cNvPr id="233" name="Google Shape;233;p31"/>
          <p:cNvSpPr txBox="1"/>
          <p:nvPr/>
        </p:nvSpPr>
        <p:spPr>
          <a:xfrm>
            <a:off x="4983163" y="2482899"/>
            <a:ext cx="284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Most sessions are short (5–10 mins).</a:t>
            </a:r>
            <a:endParaRPr sz="1100"/>
          </a:p>
        </p:txBody>
      </p:sp>
      <p:sp>
        <p:nvSpPr>
          <p:cNvPr id="234" name="Google Shape;234;p31"/>
          <p:cNvSpPr txBox="1"/>
          <p:nvPr/>
        </p:nvSpPr>
        <p:spPr>
          <a:xfrm>
            <a:off x="4983163" y="2912863"/>
            <a:ext cx="2843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Insight: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Not just power users; many are "casual experimenters" or "mid-level veterans".</a:t>
            </a:r>
            <a:endParaRPr sz="1100"/>
          </a:p>
        </p:txBody>
      </p:sp>
      <p:sp>
        <p:nvSpPr>
          <p:cNvPr id="235" name="Google Shape;235;p31"/>
          <p:cNvSpPr txBox="1"/>
          <p:nvPr/>
        </p:nvSpPr>
        <p:spPr>
          <a:xfrm>
            <a:off x="853125" y="2039525"/>
            <a:ext cx="2523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Usage Intensity</a:t>
            </a:r>
            <a:endParaRPr sz="3600"/>
          </a:p>
        </p:txBody>
      </p:sp>
      <p:pic>
        <p:nvPicPr>
          <p:cNvPr descr="image.png" id="236" name="Google Shape;2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413" y="1400175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413" y="1830139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413" y="2511474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7413" y="2941439"/>
            <a:ext cx="135731" cy="16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 txBox="1"/>
          <p:nvPr/>
        </p:nvSpPr>
        <p:spPr>
          <a:xfrm>
            <a:off x="1612879" y="2291693"/>
            <a:ext cx="591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Executive Summary</a:t>
            </a:r>
            <a:endParaRPr sz="1100"/>
          </a:p>
        </p:txBody>
      </p:sp>
      <p:sp>
        <p:nvSpPr>
          <p:cNvPr id="247" name="Google Shape;247;p32"/>
          <p:cNvSpPr txBox="1"/>
          <p:nvPr/>
        </p:nvSpPr>
        <p:spPr>
          <a:xfrm>
            <a:off x="2953940" y="3384686"/>
            <a:ext cx="3236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Top takeaways and strategic opportunities</a:t>
            </a:r>
            <a:endParaRPr sz="1100"/>
          </a:p>
        </p:txBody>
      </p:sp>
      <p:pic>
        <p:nvPicPr>
          <p:cNvPr descr="image.png" id="248" name="Google Shape;2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4109" y="1355861"/>
            <a:ext cx="535781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-142875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942975"/>
            <a:ext cx="3929063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942975"/>
            <a:ext cx="3929063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 txBox="1"/>
          <p:nvPr/>
        </p:nvSpPr>
        <p:spPr>
          <a:xfrm>
            <a:off x="685800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1. Depth &gt; Breadth</a:t>
            </a:r>
            <a:endParaRPr sz="1100"/>
          </a:p>
        </p:txBody>
      </p:sp>
      <p:sp>
        <p:nvSpPr>
          <p:cNvPr id="258" name="Google Shape;258;p33"/>
          <p:cNvSpPr txBox="1"/>
          <p:nvPr/>
        </p:nvSpPr>
        <p:spPr>
          <a:xfrm>
            <a:off x="685800" y="1657350"/>
            <a:ext cx="34149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Users strongly agree (4.25/5) that they value deeper topics beyond small talk. The current model optimizes for "matching volume," but users are craving "conversation quality."</a:t>
            </a:r>
            <a:endParaRPr sz="1100"/>
          </a:p>
        </p:txBody>
      </p:sp>
      <p:sp>
        <p:nvSpPr>
          <p:cNvPr id="259" name="Google Shape;259;p33"/>
          <p:cNvSpPr txBox="1"/>
          <p:nvPr/>
        </p:nvSpPr>
        <p:spPr>
          <a:xfrm>
            <a:off x="685800" y="2857500"/>
            <a:ext cx="34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So What?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 u="none" cap="none" strike="noStrike">
              <a:solidFill>
                <a:srgbClr val="A1A1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Design for conversation depth (prompts, cards) not just swipe volume.</a:t>
            </a:r>
            <a:endParaRPr sz="1100"/>
          </a:p>
        </p:txBody>
      </p:sp>
      <p:sp>
        <p:nvSpPr>
          <p:cNvPr id="260" name="Google Shape;260;p33"/>
          <p:cNvSpPr txBox="1"/>
          <p:nvPr/>
        </p:nvSpPr>
        <p:spPr>
          <a:xfrm>
            <a:off x="5043488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2. The "Habit Swiper"</a:t>
            </a:r>
            <a:endParaRPr sz="1100"/>
          </a:p>
        </p:txBody>
      </p:sp>
      <p:sp>
        <p:nvSpPr>
          <p:cNvPr id="261" name="Google Shape;261;p33"/>
          <p:cNvSpPr txBox="1"/>
          <p:nvPr/>
        </p:nvSpPr>
        <p:spPr>
          <a:xfrm>
            <a:off x="5043488" y="1657350"/>
            <a:ext cx="34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A specific segment exists that swipes out of boredom with no intention to message (3.75/5). Roughly half don't open daily, but when they do, it's passive.</a:t>
            </a:r>
            <a:endParaRPr sz="1100"/>
          </a:p>
        </p:txBody>
      </p:sp>
      <p:sp>
        <p:nvSpPr>
          <p:cNvPr id="262" name="Google Shape;262;p33"/>
          <p:cNvSpPr txBox="1"/>
          <p:nvPr/>
        </p:nvSpPr>
        <p:spPr>
          <a:xfrm>
            <a:off x="5043488" y="2628900"/>
            <a:ext cx="34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So What?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 u="none" cap="none" strike="noStrike">
              <a:solidFill>
                <a:srgbClr val="A1A1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Opportunity to convert habitual swiping into conversations with lightweight nudges.</a:t>
            </a:r>
            <a:endParaRPr sz="1100"/>
          </a:p>
        </p:txBody>
      </p:sp>
      <p:sp>
        <p:nvSpPr>
          <p:cNvPr id="263" name="Google Shape;263;p33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Takeaways: Engagement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42975"/>
            <a:ext cx="27306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4775" y="942975"/>
            <a:ext cx="27306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4"/>
          <p:cNvSpPr txBox="1"/>
          <p:nvPr/>
        </p:nvSpPr>
        <p:spPr>
          <a:xfrm>
            <a:off x="685800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3. Initiation </a:t>
            </a: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Anxiety</a:t>
            </a:r>
            <a:endParaRPr sz="1100"/>
          </a:p>
        </p:txBody>
      </p:sp>
      <p:sp>
        <p:nvSpPr>
          <p:cNvPr id="272" name="Google Shape;272;p34"/>
          <p:cNvSpPr txBox="1"/>
          <p:nvPr/>
        </p:nvSpPr>
        <p:spPr>
          <a:xfrm>
            <a:off x="685800" y="1657350"/>
            <a:ext cx="22857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Confidence in starting conversations is low (3.1/5). Users are sensitive to ghosting and reply quality. A lot of engagement is lost in the gap between "Match" and "Talk."</a:t>
            </a:r>
            <a:endParaRPr sz="1100"/>
          </a:p>
        </p:txBody>
      </p:sp>
      <p:sp>
        <p:nvSpPr>
          <p:cNvPr id="273" name="Google Shape;273;p34"/>
          <p:cNvSpPr txBox="1"/>
          <p:nvPr/>
        </p:nvSpPr>
        <p:spPr>
          <a:xfrm>
            <a:off x="685800" y="3570100"/>
            <a:ext cx="24735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So What?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 u="none" cap="none" strike="noStrike">
              <a:solidFill>
                <a:srgbClr val="A1A1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Users need low-stakes openers and "scaffolding" to bridge the gap.</a:t>
            </a:r>
            <a:endParaRPr sz="1100"/>
          </a:p>
        </p:txBody>
      </p:sp>
      <p:sp>
        <p:nvSpPr>
          <p:cNvPr id="274" name="Google Shape;274;p34"/>
          <p:cNvSpPr txBox="1"/>
          <p:nvPr/>
        </p:nvSpPr>
        <p:spPr>
          <a:xfrm>
            <a:off x="6279050" y="1200150"/>
            <a:ext cx="228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. AI as "Social Co-Pilot"</a:t>
            </a:r>
            <a:endParaRPr sz="1100"/>
          </a:p>
        </p:txBody>
      </p:sp>
      <p:sp>
        <p:nvSpPr>
          <p:cNvPr id="275" name="Google Shape;275;p34"/>
          <p:cNvSpPr txBox="1"/>
          <p:nvPr/>
        </p:nvSpPr>
        <p:spPr>
          <a:xfrm>
            <a:off x="6185147" y="1657350"/>
            <a:ext cx="247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Interest in AI is moderate but highly targeted (rewriting </a:t>
            </a: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bios and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openers). Those open to AI are also more likely to subscribe. It's viewed as a confidence booster, not a toy.</a:t>
            </a:r>
            <a:endParaRPr sz="1100"/>
          </a:p>
        </p:txBody>
      </p:sp>
      <p:sp>
        <p:nvSpPr>
          <p:cNvPr id="276" name="Google Shape;276;p34"/>
          <p:cNvSpPr txBox="1"/>
          <p:nvPr/>
        </p:nvSpPr>
        <p:spPr>
          <a:xfrm>
            <a:off x="6185150" y="3570100"/>
            <a:ext cx="25914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So What?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 u="none" cap="none" strike="noStrike">
              <a:solidFill>
                <a:srgbClr val="A1A1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Position AI features as confidence</a:t>
            </a:r>
            <a:r>
              <a:rPr lang="en" sz="1100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efficiency tools in premium tiers.</a:t>
            </a:r>
            <a:endParaRPr sz="1100"/>
          </a:p>
        </p:txBody>
      </p:sp>
      <p:sp>
        <p:nvSpPr>
          <p:cNvPr id="277" name="Google Shape;277;p34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</a:t>
            </a: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Takeaways: Barriers</a:t>
            </a:r>
            <a:endParaRPr sz="1100"/>
          </a:p>
        </p:txBody>
      </p:sp>
      <p:pic>
        <p:nvPicPr>
          <p:cNvPr descr="image.png" id="278" name="Google Shape;27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9225" y="942975"/>
            <a:ext cx="2825549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/>
        </p:nvSpPr>
        <p:spPr>
          <a:xfrm>
            <a:off x="3416400" y="1200150"/>
            <a:ext cx="211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. Premium Value Gap</a:t>
            </a:r>
            <a:endParaRPr sz="1100"/>
          </a:p>
        </p:txBody>
      </p:sp>
      <p:sp>
        <p:nvSpPr>
          <p:cNvPr id="280" name="Google Shape;280;p34"/>
          <p:cNvSpPr txBox="1"/>
          <p:nvPr/>
        </p:nvSpPr>
        <p:spPr>
          <a:xfrm>
            <a:off x="3416400" y="1657350"/>
            <a:ext cx="22857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Users understand the functional benefits of Gold/Platinum (e.g., unlimited swipes), but emotionally they don't feel compelling (Desirability: 2.44/5). </a:t>
            </a:r>
            <a:endParaRPr sz="1100"/>
          </a:p>
        </p:txBody>
      </p:sp>
      <p:sp>
        <p:nvSpPr>
          <p:cNvPr id="281" name="Google Shape;281;p34"/>
          <p:cNvSpPr txBox="1"/>
          <p:nvPr/>
        </p:nvSpPr>
        <p:spPr>
          <a:xfrm>
            <a:off x="3416325" y="3570100"/>
            <a:ext cx="26355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So What?</a:t>
            </a: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 u="none" cap="none" strike="noStrike">
              <a:solidFill>
                <a:srgbClr val="A1A1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Reframe premium value from "More Reach" to "Better Connection" and "Certainty."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44773"/>
            <a:ext cx="8286750" cy="35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1078706" y="1523404"/>
            <a:ext cx="727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Design for Conversation: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Move beyond "It's a Match!" to structured interaction modes (Deep dive prompts, Shared-in</a:t>
            </a:r>
            <a:r>
              <a:rPr lang="en" sz="12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terest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tags).</a:t>
            </a:r>
            <a:endParaRPr sz="1100"/>
          </a:p>
        </p:txBody>
      </p:sp>
      <p:sp>
        <p:nvSpPr>
          <p:cNvPr id="289" name="Google Shape;289;p35"/>
          <p:cNvSpPr txBox="1"/>
          <p:nvPr/>
        </p:nvSpPr>
        <p:spPr>
          <a:xfrm>
            <a:off x="1078706" y="2204740"/>
            <a:ext cx="727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Nudge the Habit: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Detect "mindless swiping" and inject friction or gamification ("Start 1 conversation today") to shift behavior.</a:t>
            </a:r>
            <a:endParaRPr sz="1100"/>
          </a:p>
        </p:txBody>
      </p:sp>
      <p:sp>
        <p:nvSpPr>
          <p:cNvPr id="290" name="Google Shape;290;p35"/>
          <p:cNvSpPr txBox="1"/>
          <p:nvPr/>
        </p:nvSpPr>
        <p:spPr>
          <a:xfrm>
            <a:off x="1078706" y="2886075"/>
            <a:ext cx="727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AI Scaffolding: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Productize AI not as a generator, but as an assistant that helps anxious users draft authentic messages.</a:t>
            </a:r>
            <a:endParaRPr sz="1100"/>
          </a:p>
        </p:txBody>
      </p:sp>
      <p:sp>
        <p:nvSpPr>
          <p:cNvPr id="291" name="Google Shape;291;p35"/>
          <p:cNvSpPr txBox="1"/>
          <p:nvPr/>
        </p:nvSpPr>
        <p:spPr>
          <a:xfrm>
            <a:off x="1078706" y="3567410"/>
            <a:ext cx="727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Redefine Premium:</a:t>
            </a: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Shift the value proposition from "Volume" (Infinite swipes) to "Quality" (Compatibility boosts, "Serious" badges).</a:t>
            </a:r>
            <a:endParaRPr sz="1100"/>
          </a:p>
        </p:txBody>
      </p:sp>
      <p:sp>
        <p:nvSpPr>
          <p:cNvPr id="292" name="Google Shape;292;p35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</a:t>
            </a: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 sz="1100"/>
          </a:p>
        </p:txBody>
      </p:sp>
      <p:pic>
        <p:nvPicPr>
          <p:cNvPr descr="image.png" id="293" name="Google Shape;29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1551980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233315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914650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3595985"/>
            <a:ext cx="135731" cy="16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894400" y="1402060"/>
            <a:ext cx="7355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Key Insights &amp; Recommendations</a:t>
            </a:r>
            <a:endParaRPr sz="1100"/>
          </a:p>
        </p:txBody>
      </p:sp>
      <p:sp>
        <p:nvSpPr>
          <p:cNvPr id="304" name="Google Shape;304;p36"/>
          <p:cNvSpPr txBox="1"/>
          <p:nvPr/>
        </p:nvSpPr>
        <p:spPr>
          <a:xfrm>
            <a:off x="2873402" y="3661100"/>
            <a:ext cx="339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Detailed analysis of </a:t>
            </a:r>
            <a:r>
              <a:rPr lang="en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 core insights</a:t>
            </a:r>
            <a:endParaRPr sz="1100"/>
          </a:p>
        </p:txBody>
      </p:sp>
      <p:pic>
        <p:nvPicPr>
          <p:cNvPr id="305" name="Google Shape;30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181" y="2621097"/>
            <a:ext cx="699552" cy="46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7"/>
          <p:cNvSpPr/>
          <p:nvPr/>
        </p:nvSpPr>
        <p:spPr>
          <a:xfrm>
            <a:off x="6021169" y="46388"/>
            <a:ext cx="31230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25" y="3362541"/>
            <a:ext cx="4596431" cy="140300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7"/>
          <p:cNvSpPr txBox="1"/>
          <p:nvPr/>
        </p:nvSpPr>
        <p:spPr>
          <a:xfrm>
            <a:off x="193706" y="424341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1</a:t>
            </a:r>
            <a:endParaRPr sz="1100"/>
          </a:p>
        </p:txBody>
      </p:sp>
      <p:pic>
        <p:nvPicPr>
          <p:cNvPr descr="image.png" id="314" name="Google Shape;314;p37"/>
          <p:cNvPicPr preferRelativeResize="0"/>
          <p:nvPr/>
        </p:nvPicPr>
        <p:blipFill rotWithShape="1">
          <a:blip r:embed="rId5">
            <a:alphaModFix/>
          </a:blip>
          <a:srcRect b="29371" l="5218" r="4513" t="18784"/>
          <a:stretch/>
        </p:blipFill>
        <p:spPr>
          <a:xfrm>
            <a:off x="267675" y="3347991"/>
            <a:ext cx="4488131" cy="1339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193763" y="642433"/>
            <a:ext cx="4241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People crave deeper, more intentional conversations.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37"/>
          <p:cNvSpPr txBox="1"/>
          <p:nvPr/>
        </p:nvSpPr>
        <p:spPr>
          <a:xfrm>
            <a:off x="193761" y="2063925"/>
            <a:ext cx="4581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4F4F5"/>
                </a:solidFill>
                <a:latin typeface="Montserrat"/>
                <a:ea typeface="Montserrat"/>
                <a:cs typeface="Montserrat"/>
                <a:sym typeface="Montserrat"/>
              </a:rPr>
              <a:t>"I’m tired of surface-level banter. I want the product to help us get to the ‘real’ conversation faster."</a:t>
            </a:r>
            <a:endParaRPr sz="800"/>
          </a:p>
        </p:txBody>
      </p:sp>
      <p:sp>
        <p:nvSpPr>
          <p:cNvPr id="317" name="Google Shape;317;p37"/>
          <p:cNvSpPr txBox="1"/>
          <p:nvPr/>
        </p:nvSpPr>
        <p:spPr>
          <a:xfrm>
            <a:off x="191334" y="2430579"/>
            <a:ext cx="428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"If people said my pics were pretty, then I respond and we talk. I need that spark."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37"/>
          <p:cNvSpPr txBox="1"/>
          <p:nvPr/>
        </p:nvSpPr>
        <p:spPr>
          <a:xfrm>
            <a:off x="191334" y="2655246"/>
            <a:ext cx="420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appreciate playful but specific first messages, not just a generic 'Hey.'"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137001" y="1824225"/>
            <a:ext cx="288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0" name="Google Shape;320;p37"/>
          <p:cNvCxnSpPr/>
          <p:nvPr/>
        </p:nvCxnSpPr>
        <p:spPr>
          <a:xfrm>
            <a:off x="205500" y="2041584"/>
            <a:ext cx="4618800" cy="180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7"/>
          <p:cNvSpPr txBox="1"/>
          <p:nvPr/>
        </p:nvSpPr>
        <p:spPr>
          <a:xfrm>
            <a:off x="145030" y="3036909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Quantitative data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2" name="Google Shape;322;p37"/>
          <p:cNvCxnSpPr/>
          <p:nvPr/>
        </p:nvCxnSpPr>
        <p:spPr>
          <a:xfrm>
            <a:off x="213531" y="3254259"/>
            <a:ext cx="4581300" cy="99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7"/>
          <p:cNvSpPr txBox="1"/>
          <p:nvPr/>
        </p:nvSpPr>
        <p:spPr>
          <a:xfrm>
            <a:off x="7221255" y="1833947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6155888" y="2121638"/>
            <a:ext cx="2796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"Deep Dive" Prompts: Add optional cards in chat (e.g., "Travel </a:t>
            </a: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dreams,"</a:t>
            </a: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"Dealbreakers") to skip small talk.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37"/>
          <p:cNvSpPr txBox="1"/>
          <p:nvPr/>
        </p:nvSpPr>
        <p:spPr>
          <a:xfrm>
            <a:off x="6212775" y="2483831"/>
            <a:ext cx="27402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Shared-Topic Starters: Highlight overlapping interests </a:t>
            </a: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(music,</a:t>
            </a: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hobbies)</a:t>
            </a: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with one-tap opener suggestions.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6133860" y="2846018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Conversation Mode: Experiment with a mode that pauses new swipes to focus strictly on existing matches.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7" name="Google Shape;327;p37"/>
          <p:cNvCxnSpPr/>
          <p:nvPr/>
        </p:nvCxnSpPr>
        <p:spPr>
          <a:xfrm flipH="1" rot="10800000">
            <a:off x="6225263" y="2059497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7"/>
          <p:cNvCxnSpPr/>
          <p:nvPr/>
        </p:nvCxnSpPr>
        <p:spPr>
          <a:xfrm flipH="1" rot="10800000">
            <a:off x="6225263" y="3257415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/>
          <p:nvPr/>
        </p:nvSpPr>
        <p:spPr>
          <a:xfrm>
            <a:off x="6021169" y="46388"/>
            <a:ext cx="31230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335" name="Google Shape;3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25" y="3362541"/>
            <a:ext cx="4596431" cy="140300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8"/>
          <p:cNvSpPr txBox="1"/>
          <p:nvPr/>
        </p:nvSpPr>
        <p:spPr>
          <a:xfrm>
            <a:off x="193706" y="424341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</a:t>
            </a: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/>
          </a:p>
        </p:txBody>
      </p:sp>
      <p:sp>
        <p:nvSpPr>
          <p:cNvPr id="337" name="Google Shape;337;p38"/>
          <p:cNvSpPr txBox="1"/>
          <p:nvPr/>
        </p:nvSpPr>
        <p:spPr>
          <a:xfrm>
            <a:off x="193763" y="642433"/>
            <a:ext cx="4241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"habit swiping" pattern risks empty engagement.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193761" y="2063925"/>
            <a:ext cx="4581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swipe a lot, but half the time I don’t even intend to talk. It’s just something to do."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4F4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195430" y="2262654"/>
            <a:ext cx="428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"Every day, I open it 5–6 times and swipe... but I'm not trying to talk to people."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195440" y="2475948"/>
            <a:ext cx="458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"It feels like a magic box, you know. When I'm lonely,  I just go to the app."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137001" y="1824225"/>
            <a:ext cx="274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2" name="Google Shape;342;p38"/>
          <p:cNvCxnSpPr/>
          <p:nvPr/>
        </p:nvCxnSpPr>
        <p:spPr>
          <a:xfrm>
            <a:off x="205500" y="2041584"/>
            <a:ext cx="4618800" cy="180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8"/>
          <p:cNvSpPr txBox="1"/>
          <p:nvPr/>
        </p:nvSpPr>
        <p:spPr>
          <a:xfrm>
            <a:off x="145030" y="3036909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Quantitative data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4" name="Google Shape;344;p38"/>
          <p:cNvCxnSpPr/>
          <p:nvPr/>
        </p:nvCxnSpPr>
        <p:spPr>
          <a:xfrm>
            <a:off x="213531" y="3254259"/>
            <a:ext cx="4581300" cy="99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8"/>
          <p:cNvSpPr txBox="1"/>
          <p:nvPr/>
        </p:nvSpPr>
        <p:spPr>
          <a:xfrm>
            <a:off x="7221255" y="1833947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6" name="Google Shape;346;p38"/>
          <p:cNvCxnSpPr/>
          <p:nvPr/>
        </p:nvCxnSpPr>
        <p:spPr>
          <a:xfrm flipH="1" rot="10800000">
            <a:off x="6225263" y="2059497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8"/>
          <p:cNvCxnSpPr/>
          <p:nvPr/>
        </p:nvCxnSpPr>
        <p:spPr>
          <a:xfrm flipH="1" rot="10800000">
            <a:off x="6225263" y="3257415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8"/>
          <p:cNvSpPr txBox="1"/>
          <p:nvPr/>
        </p:nvSpPr>
        <p:spPr>
          <a:xfrm>
            <a:off x="204385" y="2684087"/>
            <a:ext cx="458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"Swiping is fun, but messaging feels like work."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349" name="Google Shape;349;p38"/>
          <p:cNvPicPr preferRelativeResize="0"/>
          <p:nvPr/>
        </p:nvPicPr>
        <p:blipFill rotWithShape="1">
          <a:blip r:embed="rId5">
            <a:alphaModFix/>
          </a:blip>
          <a:srcRect b="25497" l="4185" r="4240" t="13867"/>
          <a:stretch/>
        </p:blipFill>
        <p:spPr>
          <a:xfrm>
            <a:off x="262238" y="3389756"/>
            <a:ext cx="4523242" cy="1375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8"/>
          <p:cNvSpPr txBox="1"/>
          <p:nvPr/>
        </p:nvSpPr>
        <p:spPr>
          <a:xfrm>
            <a:off x="6094956" y="2116893"/>
            <a:ext cx="2866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Send This?" Prompt: When a match happens, show a pre-filled opener referencing a profile tag immediately.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6272325" y="2483831"/>
            <a:ext cx="2703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Conversation Goals: Replace "X New Matches" stats with "Start 1 Real Conversation" goals.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8"/>
          <p:cNvSpPr txBox="1"/>
          <p:nvPr/>
        </p:nvSpPr>
        <p:spPr>
          <a:xfrm>
            <a:off x="6366070" y="2846025"/>
            <a:ext cx="2595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Gentle Friction: "You have 5 unmatched chats. Want to say hi before swiping more?"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38"/>
          <p:cNvSpPr txBox="1"/>
          <p:nvPr/>
        </p:nvSpPr>
        <p:spPr>
          <a:xfrm>
            <a:off x="6366074" y="3257425"/>
            <a:ext cx="2649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Design Goal: Intentionality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Shift users from "mindless swiping" to "mindful connecting" without destroying the fun factor.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9"/>
          <p:cNvSpPr/>
          <p:nvPr/>
        </p:nvSpPr>
        <p:spPr>
          <a:xfrm>
            <a:off x="6021169" y="46388"/>
            <a:ext cx="31230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360" name="Google Shape;36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25" y="3362541"/>
            <a:ext cx="4596431" cy="140300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9"/>
          <p:cNvSpPr txBox="1"/>
          <p:nvPr/>
        </p:nvSpPr>
        <p:spPr>
          <a:xfrm>
            <a:off x="193706" y="424341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</a:t>
            </a: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/>
          </a:p>
        </p:txBody>
      </p:sp>
      <p:sp>
        <p:nvSpPr>
          <p:cNvPr id="362" name="Google Shape;362;p39"/>
          <p:cNvSpPr txBox="1"/>
          <p:nvPr/>
        </p:nvSpPr>
        <p:spPr>
          <a:xfrm>
            <a:off x="193763" y="642433"/>
            <a:ext cx="4241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Initiation anxiety &amp; fear of ghosting hold people back.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137002" y="1824225"/>
            <a:ext cx="357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4" name="Google Shape;364;p39"/>
          <p:cNvCxnSpPr/>
          <p:nvPr/>
        </p:nvCxnSpPr>
        <p:spPr>
          <a:xfrm>
            <a:off x="205500" y="2041584"/>
            <a:ext cx="4618800" cy="180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9"/>
          <p:cNvSpPr txBox="1"/>
          <p:nvPr/>
        </p:nvSpPr>
        <p:spPr>
          <a:xfrm>
            <a:off x="145030" y="3036909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Quantitative data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p39"/>
          <p:cNvCxnSpPr/>
          <p:nvPr/>
        </p:nvCxnSpPr>
        <p:spPr>
          <a:xfrm>
            <a:off x="213531" y="3254259"/>
            <a:ext cx="4581300" cy="99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39"/>
          <p:cNvSpPr txBox="1"/>
          <p:nvPr/>
        </p:nvSpPr>
        <p:spPr>
          <a:xfrm>
            <a:off x="7221255" y="1833947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8" name="Google Shape;368;p39"/>
          <p:cNvCxnSpPr/>
          <p:nvPr/>
        </p:nvCxnSpPr>
        <p:spPr>
          <a:xfrm flipH="1" rot="10800000">
            <a:off x="6225263" y="2059497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9"/>
          <p:cNvCxnSpPr/>
          <p:nvPr/>
        </p:nvCxnSpPr>
        <p:spPr>
          <a:xfrm flipH="1" rot="10800000">
            <a:off x="6225263" y="3257415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9"/>
          <p:cNvSpPr txBox="1"/>
          <p:nvPr/>
        </p:nvSpPr>
        <p:spPr>
          <a:xfrm>
            <a:off x="6121987" y="3257419"/>
            <a:ext cx="2893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Design Goal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Reduce the emotional risk of initiating conversations by creating features that increase reply likelihood, provide supportive messaging scaffolds, and normalize non-response.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204397" y="2056636"/>
            <a:ext cx="4731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"Starting is nerve-wracking because if I mess it up or they ignore me, it feels bad enough to make me not try again."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204474" y="2412201"/>
            <a:ext cx="502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feel anxious about myself when people I like don’t like me back."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9"/>
          <p:cNvSpPr txBox="1"/>
          <p:nvPr/>
        </p:nvSpPr>
        <p:spPr>
          <a:xfrm>
            <a:off x="204469" y="2627550"/>
            <a:ext cx="502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“I don't really message first… because I'm afraid they won’t respond.”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248600" y="4249575"/>
            <a:ext cx="4581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Swiping is often a coping mechanism for boredom or loneliness, rather than a strategic search for connection. High swiping volume often correlates with low follow-through.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9"/>
          <p:cNvSpPr txBox="1"/>
          <p:nvPr/>
        </p:nvSpPr>
        <p:spPr>
          <a:xfrm>
            <a:off x="6121975" y="2104250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Provide pre-generated, playful openers users can customize to reduce "blank page" fear.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9"/>
          <p:cNvSpPr txBox="1"/>
          <p:nvPr/>
        </p:nvSpPr>
        <p:spPr>
          <a:xfrm>
            <a:off x="6407150" y="2492900"/>
            <a:ext cx="2558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Micro-feedback: "Ghosting happens to everyone. Want to try a different opener?"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6338050" y="2881575"/>
            <a:ext cx="2627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Nudge both sides to reply if they matched, framing it as "Don't leave them hanging."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378" name="Google Shape;378;p39"/>
          <p:cNvPicPr preferRelativeResize="0"/>
          <p:nvPr/>
        </p:nvPicPr>
        <p:blipFill rotWithShape="1">
          <a:blip r:embed="rId5">
            <a:alphaModFix/>
          </a:blip>
          <a:srcRect b="39783" l="6326" r="4077" t="30294"/>
          <a:stretch/>
        </p:blipFill>
        <p:spPr>
          <a:xfrm>
            <a:off x="248625" y="3430856"/>
            <a:ext cx="4581226" cy="808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/>
          <p:nvPr/>
        </p:nvSpPr>
        <p:spPr>
          <a:xfrm>
            <a:off x="6021169" y="46388"/>
            <a:ext cx="31230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385" name="Google Shape;38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25" y="3362541"/>
            <a:ext cx="4596431" cy="140300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0"/>
          <p:cNvSpPr txBox="1"/>
          <p:nvPr/>
        </p:nvSpPr>
        <p:spPr>
          <a:xfrm>
            <a:off x="193706" y="424341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4</a:t>
            </a:r>
            <a:endParaRPr sz="1100"/>
          </a:p>
        </p:txBody>
      </p:sp>
      <p:sp>
        <p:nvSpPr>
          <p:cNvPr id="387" name="Google Shape;387;p40"/>
          <p:cNvSpPr txBox="1"/>
          <p:nvPr/>
        </p:nvSpPr>
        <p:spPr>
          <a:xfrm>
            <a:off x="193763" y="642431"/>
            <a:ext cx="28938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is a niche but high-leverage co-pilot.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137001" y="1824225"/>
            <a:ext cx="323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9" name="Google Shape;389;p40"/>
          <p:cNvCxnSpPr/>
          <p:nvPr/>
        </p:nvCxnSpPr>
        <p:spPr>
          <a:xfrm>
            <a:off x="205500" y="2041584"/>
            <a:ext cx="4618800" cy="180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0"/>
          <p:cNvSpPr txBox="1"/>
          <p:nvPr/>
        </p:nvSpPr>
        <p:spPr>
          <a:xfrm>
            <a:off x="145030" y="3036909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Quantitative data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1" name="Google Shape;391;p40"/>
          <p:cNvCxnSpPr/>
          <p:nvPr/>
        </p:nvCxnSpPr>
        <p:spPr>
          <a:xfrm>
            <a:off x="213531" y="3254259"/>
            <a:ext cx="4581300" cy="99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0"/>
          <p:cNvSpPr txBox="1"/>
          <p:nvPr/>
        </p:nvSpPr>
        <p:spPr>
          <a:xfrm>
            <a:off x="7221255" y="1833947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3" name="Google Shape;393;p40"/>
          <p:cNvCxnSpPr/>
          <p:nvPr/>
        </p:nvCxnSpPr>
        <p:spPr>
          <a:xfrm flipH="1" rot="10800000">
            <a:off x="6225263" y="2059497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0"/>
          <p:cNvCxnSpPr/>
          <p:nvPr/>
        </p:nvCxnSpPr>
        <p:spPr>
          <a:xfrm flipH="1" rot="10800000">
            <a:off x="6225263" y="3257415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40"/>
          <p:cNvSpPr txBox="1"/>
          <p:nvPr/>
        </p:nvSpPr>
        <p:spPr>
          <a:xfrm>
            <a:off x="6121987" y="3257419"/>
            <a:ext cx="28938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Design Goal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"Make your message more YOU."</a:t>
            </a:r>
            <a:b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Avoid framing AI as a robot doing the work. Frame it as an efficiency and confidence tool.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262224" y="2130389"/>
            <a:ext cx="513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don’t want AI to date for me, but it can help me not sound boring or awkward."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193763" y="2287575"/>
            <a:ext cx="431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"Help me stand out, not sound like everyone else."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40"/>
          <p:cNvSpPr txBox="1"/>
          <p:nvPr/>
        </p:nvSpPr>
        <p:spPr>
          <a:xfrm>
            <a:off x="198920" y="2499113"/>
            <a:ext cx="503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"Suggesting </a:t>
            </a: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emojis</a:t>
            </a: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or catchphrases popular among Gen Z."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0"/>
          <p:cNvSpPr txBox="1"/>
          <p:nvPr/>
        </p:nvSpPr>
        <p:spPr>
          <a:xfrm>
            <a:off x="209344" y="2724417"/>
            <a:ext cx="641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"AI can gather info and summarize the vibe."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400" name="Google Shape;400;p40"/>
          <p:cNvPicPr preferRelativeResize="0"/>
          <p:nvPr/>
        </p:nvPicPr>
        <p:blipFill rotWithShape="1">
          <a:blip r:embed="rId5">
            <a:alphaModFix/>
          </a:blip>
          <a:srcRect b="16674" l="4129" r="4321" t="11456"/>
          <a:stretch/>
        </p:blipFill>
        <p:spPr>
          <a:xfrm>
            <a:off x="271256" y="3349425"/>
            <a:ext cx="4523494" cy="14612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0"/>
          <p:cNvSpPr txBox="1"/>
          <p:nvPr/>
        </p:nvSpPr>
        <p:spPr>
          <a:xfrm>
            <a:off x="6147188" y="2116256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Premium Bundle: Bundle AI Bio Optimization and "Rescue Replies" into Gold/Platinum tiers.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6133878" y="2469558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Human-in-the-Loop: Always allow users to approve/edit AI suggestions to maintain authenticity.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6128411" y="2833060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Vibe Check: AI summary of a match's profile to suggest 2-3 tailored openers.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1"/>
          <p:cNvSpPr/>
          <p:nvPr/>
        </p:nvSpPr>
        <p:spPr>
          <a:xfrm>
            <a:off x="6021169" y="46388"/>
            <a:ext cx="31230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410" name="Google Shape;41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25" y="3362541"/>
            <a:ext cx="4596431" cy="140300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1"/>
          <p:cNvSpPr txBox="1"/>
          <p:nvPr/>
        </p:nvSpPr>
        <p:spPr>
          <a:xfrm>
            <a:off x="193706" y="424341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5</a:t>
            </a:r>
            <a:endParaRPr sz="1100"/>
          </a:p>
        </p:txBody>
      </p:sp>
      <p:sp>
        <p:nvSpPr>
          <p:cNvPr id="412" name="Google Shape;412;p41"/>
          <p:cNvSpPr txBox="1"/>
          <p:nvPr/>
        </p:nvSpPr>
        <p:spPr>
          <a:xfrm>
            <a:off x="193763" y="642431"/>
            <a:ext cx="4523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Premium is understood but 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emotionally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underwhelming.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41"/>
          <p:cNvSpPr txBox="1"/>
          <p:nvPr/>
        </p:nvSpPr>
        <p:spPr>
          <a:xfrm>
            <a:off x="137001" y="1824225"/>
            <a:ext cx="284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4" name="Google Shape;414;p41"/>
          <p:cNvCxnSpPr/>
          <p:nvPr/>
        </p:nvCxnSpPr>
        <p:spPr>
          <a:xfrm>
            <a:off x="205500" y="2041584"/>
            <a:ext cx="4618800" cy="180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1"/>
          <p:cNvSpPr txBox="1"/>
          <p:nvPr/>
        </p:nvSpPr>
        <p:spPr>
          <a:xfrm>
            <a:off x="145030" y="3036909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Quantitative data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6" name="Google Shape;416;p41"/>
          <p:cNvCxnSpPr/>
          <p:nvPr/>
        </p:nvCxnSpPr>
        <p:spPr>
          <a:xfrm>
            <a:off x="213531" y="3254259"/>
            <a:ext cx="4581300" cy="99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1"/>
          <p:cNvSpPr txBox="1"/>
          <p:nvPr/>
        </p:nvSpPr>
        <p:spPr>
          <a:xfrm>
            <a:off x="7221255" y="1833947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8" name="Google Shape;418;p41"/>
          <p:cNvCxnSpPr/>
          <p:nvPr/>
        </p:nvCxnSpPr>
        <p:spPr>
          <a:xfrm flipH="1" rot="10800000">
            <a:off x="6225263" y="2059497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1"/>
          <p:cNvCxnSpPr/>
          <p:nvPr/>
        </p:nvCxnSpPr>
        <p:spPr>
          <a:xfrm flipH="1" rot="10800000">
            <a:off x="6225263" y="3257415"/>
            <a:ext cx="2740200" cy="36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41"/>
          <p:cNvSpPr txBox="1"/>
          <p:nvPr/>
        </p:nvSpPr>
        <p:spPr>
          <a:xfrm>
            <a:off x="6644100" y="3257425"/>
            <a:ext cx="23715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Strategy: Reframe Values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Move from "Power User Tools" to "Quality &amp; Clarity Tools."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41"/>
          <p:cNvSpPr txBox="1"/>
          <p:nvPr/>
        </p:nvSpPr>
        <p:spPr>
          <a:xfrm>
            <a:off x="193763" y="2270319"/>
            <a:ext cx="553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feel like premium costs too much, and the hierarchy is unfair to regular users."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189877" y="2499113"/>
            <a:ext cx="503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“I know Gold lets you see who likes you, but I don't think it’s worth the price.”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191258" y="2724417"/>
            <a:ext cx="641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“I understand the different tiers, but the benefits don’t feel special.”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41"/>
          <p:cNvSpPr txBox="1"/>
          <p:nvPr/>
        </p:nvSpPr>
        <p:spPr>
          <a:xfrm>
            <a:off x="198940" y="2055939"/>
            <a:ext cx="576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"I wish premium could indicate who is more likely to get back to you."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425" name="Google Shape;425;p41"/>
          <p:cNvPicPr preferRelativeResize="0"/>
          <p:nvPr/>
        </p:nvPicPr>
        <p:blipFill rotWithShape="1">
          <a:blip r:embed="rId5">
            <a:alphaModFix/>
          </a:blip>
          <a:srcRect b="33758" l="11372" r="4075" t="20387"/>
          <a:stretch/>
        </p:blipFill>
        <p:spPr>
          <a:xfrm>
            <a:off x="268800" y="3422494"/>
            <a:ext cx="4523402" cy="131531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1"/>
          <p:cNvSpPr txBox="1"/>
          <p:nvPr/>
        </p:nvSpPr>
        <p:spPr>
          <a:xfrm>
            <a:off x="6225262" y="2099175"/>
            <a:ext cx="2756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Outcome Language: Change "See who likes you" to "Spend less time guessing, more time talking."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41"/>
          <p:cNvSpPr txBox="1"/>
          <p:nvPr/>
        </p:nvSpPr>
        <p:spPr>
          <a:xfrm>
            <a:off x="6146497" y="2472802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Compatibility Boosts: Prioritize showing profiles that are algorithmically likely to reply, not just nearby.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41"/>
          <p:cNvSpPr txBox="1"/>
          <p:nvPr/>
        </p:nvSpPr>
        <p:spPr>
          <a:xfrm>
            <a:off x="5968251" y="2846400"/>
            <a:ext cx="3022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"Serious" Intent Badges: Premium-exclusive badges that signal "I'm here for a relationship," filtering out noise.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2"/>
          <p:cNvSpPr/>
          <p:nvPr/>
        </p:nvSpPr>
        <p:spPr>
          <a:xfrm>
            <a:off x="5131650" y="23175"/>
            <a:ext cx="39957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260381" y="2031122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6</a:t>
            </a:r>
            <a:endParaRPr sz="1100"/>
          </a:p>
        </p:txBody>
      </p:sp>
      <p:sp>
        <p:nvSpPr>
          <p:cNvPr id="436" name="Google Shape;436;p42"/>
          <p:cNvSpPr txBox="1"/>
          <p:nvPr/>
        </p:nvSpPr>
        <p:spPr>
          <a:xfrm>
            <a:off x="6192593" y="2066300"/>
            <a:ext cx="288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7" name="Google Shape;437;p42"/>
          <p:cNvCxnSpPr/>
          <p:nvPr/>
        </p:nvCxnSpPr>
        <p:spPr>
          <a:xfrm flipH="1" rot="10800000">
            <a:off x="5325469" y="2320256"/>
            <a:ext cx="3753000" cy="111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2"/>
          <p:cNvSpPr txBox="1"/>
          <p:nvPr/>
        </p:nvSpPr>
        <p:spPr>
          <a:xfrm>
            <a:off x="7222249" y="3506860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42"/>
          <p:cNvCxnSpPr/>
          <p:nvPr/>
        </p:nvCxnSpPr>
        <p:spPr>
          <a:xfrm>
            <a:off x="5325469" y="3711263"/>
            <a:ext cx="3641100" cy="213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2"/>
          <p:cNvCxnSpPr/>
          <p:nvPr/>
        </p:nvCxnSpPr>
        <p:spPr>
          <a:xfrm flipH="1" rot="10800000">
            <a:off x="250931" y="3717263"/>
            <a:ext cx="4101900" cy="9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2"/>
          <p:cNvSpPr txBox="1"/>
          <p:nvPr/>
        </p:nvSpPr>
        <p:spPr>
          <a:xfrm>
            <a:off x="5099013" y="2670300"/>
            <a:ext cx="399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"I wish we could filter race on Tinder." (Participant noted ethical concern.)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42"/>
          <p:cNvSpPr txBox="1"/>
          <p:nvPr/>
        </p:nvSpPr>
        <p:spPr>
          <a:xfrm>
            <a:off x="5468174" y="2331350"/>
            <a:ext cx="360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"For LGBTQ users, [we need] more categories (top/bottom)."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42"/>
          <p:cNvSpPr txBox="1"/>
          <p:nvPr/>
        </p:nvSpPr>
        <p:spPr>
          <a:xfrm>
            <a:off x="5262700" y="2563175"/>
            <a:ext cx="375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"Algorithms can be improved to feed people with the same hobbies."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2"/>
          <p:cNvSpPr txBox="1"/>
          <p:nvPr/>
        </p:nvSpPr>
        <p:spPr>
          <a:xfrm>
            <a:off x="2245575" y="1551675"/>
            <a:ext cx="288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42"/>
          <p:cNvSpPr txBox="1"/>
          <p:nvPr/>
        </p:nvSpPr>
        <p:spPr>
          <a:xfrm>
            <a:off x="174656" y="2220947"/>
            <a:ext cx="44163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request filters (race, interests, LGBTQ roles) to find "relevance." 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42"/>
          <p:cNvSpPr txBox="1"/>
          <p:nvPr/>
        </p:nvSpPr>
        <p:spPr>
          <a:xfrm>
            <a:off x="5888288" y="3803231"/>
            <a:ext cx="3102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Tailored for Queer Users: Ensure matching/prompts feel relevant to queer dating norms (not just hetero scripts).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42"/>
          <p:cNvSpPr txBox="1"/>
          <p:nvPr/>
        </p:nvSpPr>
        <p:spPr>
          <a:xfrm>
            <a:off x="6148181" y="4170802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"Vibe" Filters: Allow filtering by "Communication Style" or "Love Language" rather than just physical traits.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42"/>
          <p:cNvSpPr txBox="1"/>
          <p:nvPr/>
        </p:nvSpPr>
        <p:spPr>
          <a:xfrm>
            <a:off x="6148181" y="4538383"/>
            <a:ext cx="284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Highlight Safety: For women and queer users, emphasize control features as safety tools.</a:t>
            </a:r>
            <a:endParaRPr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2"/>
          <p:cNvSpPr txBox="1"/>
          <p:nvPr/>
        </p:nvSpPr>
        <p:spPr>
          <a:xfrm>
            <a:off x="174656" y="3803231"/>
            <a:ext cx="4254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USERS WANT POWER OVER RELEVANCE. THE CHALLENGE IS PROVIDING THIS WITHOUT ENCOURAGING DISCRIMINATION.</a:t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3"/>
          <p:cNvSpPr/>
          <p:nvPr/>
        </p:nvSpPr>
        <p:spPr>
          <a:xfrm>
            <a:off x="5131650" y="23175"/>
            <a:ext cx="39957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43"/>
          <p:cNvSpPr txBox="1"/>
          <p:nvPr/>
        </p:nvSpPr>
        <p:spPr>
          <a:xfrm>
            <a:off x="260381" y="2031122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7</a:t>
            </a:r>
            <a:endParaRPr sz="1100"/>
          </a:p>
        </p:txBody>
      </p:sp>
      <p:sp>
        <p:nvSpPr>
          <p:cNvPr id="457" name="Google Shape;457;p43"/>
          <p:cNvSpPr txBox="1"/>
          <p:nvPr/>
        </p:nvSpPr>
        <p:spPr>
          <a:xfrm>
            <a:off x="6707096" y="2066300"/>
            <a:ext cx="237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 flipH="1" rot="10800000">
            <a:off x="5325469" y="2320256"/>
            <a:ext cx="3753000" cy="111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43"/>
          <p:cNvSpPr txBox="1"/>
          <p:nvPr/>
        </p:nvSpPr>
        <p:spPr>
          <a:xfrm>
            <a:off x="7222249" y="3506860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0" name="Google Shape;460;p43"/>
          <p:cNvCxnSpPr/>
          <p:nvPr/>
        </p:nvCxnSpPr>
        <p:spPr>
          <a:xfrm>
            <a:off x="5325469" y="3711263"/>
            <a:ext cx="3641100" cy="213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43"/>
          <p:cNvSpPr txBox="1"/>
          <p:nvPr/>
        </p:nvSpPr>
        <p:spPr>
          <a:xfrm>
            <a:off x="174656" y="2237588"/>
            <a:ext cx="2682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Performance glitches erase emotional wins.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2" name="Google Shape;462;p43"/>
          <p:cNvCxnSpPr/>
          <p:nvPr/>
        </p:nvCxnSpPr>
        <p:spPr>
          <a:xfrm flipH="1" rot="10800000">
            <a:off x="250931" y="3717263"/>
            <a:ext cx="4101900" cy="9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43"/>
          <p:cNvSpPr txBox="1"/>
          <p:nvPr/>
        </p:nvSpPr>
        <p:spPr>
          <a:xfrm>
            <a:off x="192994" y="3795656"/>
            <a:ext cx="4035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THE SCREEN WOULD FREEZE WHEN SWITCHING THE MESSAGING PAGE.</a:t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43"/>
          <p:cNvSpPr txBox="1"/>
          <p:nvPr/>
        </p:nvSpPr>
        <p:spPr>
          <a:xfrm>
            <a:off x="5581650" y="2319769"/>
            <a:ext cx="3493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"A super-matched girl was gone because the screen froze and that was the reason I turned to Hinge."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43"/>
          <p:cNvSpPr txBox="1"/>
          <p:nvPr/>
        </p:nvSpPr>
        <p:spPr>
          <a:xfrm>
            <a:off x="5174300" y="2686550"/>
            <a:ext cx="390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“Sometimes it takes a few minutes for a single message to be sent out.”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5777850" y="2888081"/>
            <a:ext cx="3304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“When I try to use Tinder in a different country, it seems to have bad connections all the time.”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43"/>
          <p:cNvSpPr txBox="1"/>
          <p:nvPr/>
        </p:nvSpPr>
        <p:spPr>
          <a:xfrm>
            <a:off x="5665050" y="3719456"/>
            <a:ext cx="3364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Prioritize fixing navigation bugs. A lost match due to a glitch is a severe trust-breaker.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6657975" y="4270031"/>
            <a:ext cx="237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Examine usability across a global context.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43"/>
          <p:cNvSpPr txBox="1"/>
          <p:nvPr/>
        </p:nvSpPr>
        <p:spPr>
          <a:xfrm>
            <a:off x="5522050" y="4073350"/>
            <a:ext cx="349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Ensuring Tinder operates properly across different mobile devices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4"/>
          <p:cNvSpPr/>
          <p:nvPr/>
        </p:nvSpPr>
        <p:spPr>
          <a:xfrm>
            <a:off x="5131650" y="23175"/>
            <a:ext cx="39957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260381" y="2031122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8</a:t>
            </a:r>
            <a:endParaRPr sz="1100"/>
          </a:p>
        </p:txBody>
      </p:sp>
      <p:sp>
        <p:nvSpPr>
          <p:cNvPr id="477" name="Google Shape;477;p44"/>
          <p:cNvSpPr txBox="1"/>
          <p:nvPr/>
        </p:nvSpPr>
        <p:spPr>
          <a:xfrm>
            <a:off x="6151193" y="2066300"/>
            <a:ext cx="292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8" name="Google Shape;478;p44"/>
          <p:cNvCxnSpPr/>
          <p:nvPr/>
        </p:nvCxnSpPr>
        <p:spPr>
          <a:xfrm flipH="1" rot="10800000">
            <a:off x="5325469" y="2320256"/>
            <a:ext cx="3753000" cy="111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44"/>
          <p:cNvSpPr txBox="1"/>
          <p:nvPr/>
        </p:nvSpPr>
        <p:spPr>
          <a:xfrm>
            <a:off x="7222249" y="3506860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0" name="Google Shape;480;p44"/>
          <p:cNvCxnSpPr/>
          <p:nvPr/>
        </p:nvCxnSpPr>
        <p:spPr>
          <a:xfrm>
            <a:off x="5325469" y="3711263"/>
            <a:ext cx="3641100" cy="213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44"/>
          <p:cNvSpPr txBox="1"/>
          <p:nvPr/>
        </p:nvSpPr>
        <p:spPr>
          <a:xfrm>
            <a:off x="174656" y="2237588"/>
            <a:ext cx="3900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Experienced daters want efficiency. Newbies want guidance.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2" name="Google Shape;482;p44"/>
          <p:cNvCxnSpPr/>
          <p:nvPr/>
        </p:nvCxnSpPr>
        <p:spPr>
          <a:xfrm flipH="1" rot="10800000">
            <a:off x="260381" y="3717263"/>
            <a:ext cx="4101900" cy="9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4"/>
          <p:cNvSpPr txBox="1"/>
          <p:nvPr/>
        </p:nvSpPr>
        <p:spPr>
          <a:xfrm>
            <a:off x="5710819" y="2320331"/>
            <a:ext cx="3304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Experienced: "I know how these apps work. I want tools that make it more efficient."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44"/>
          <p:cNvSpPr txBox="1"/>
          <p:nvPr/>
        </p:nvSpPr>
        <p:spPr>
          <a:xfrm>
            <a:off x="5829300" y="2648663"/>
            <a:ext cx="3187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Newbies: "I’m still learning how to use this; I don’t want to overcommit yet."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710819" y="3711263"/>
            <a:ext cx="3289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Gentle flow for first-timers explaining safety and conversation starters. Delay aggressive upsells.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44"/>
          <p:cNvSpPr txBox="1"/>
          <p:nvPr/>
        </p:nvSpPr>
        <p:spPr>
          <a:xfrm>
            <a:off x="5528525" y="4048125"/>
            <a:ext cx="346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Establish a brief onboarding tutorial that guides newbies.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44"/>
          <p:cNvSpPr txBox="1"/>
          <p:nvPr/>
        </p:nvSpPr>
        <p:spPr>
          <a:xfrm>
            <a:off x="5851556" y="4234181"/>
            <a:ext cx="31371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experienced users (3+ apps), highlight time-saving controls and filtering in upsell messaging.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44"/>
          <p:cNvSpPr txBox="1"/>
          <p:nvPr/>
        </p:nvSpPr>
        <p:spPr>
          <a:xfrm>
            <a:off x="193706" y="3779944"/>
            <a:ext cx="4168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DIFFERENT GUIDANCES AND FEATURES SHOULD BE TAILORED TO USERS WITH DIFFERENT “DATING APP EXPERTISE.”</a:t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3" name="Google Shape;49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5"/>
          <p:cNvSpPr/>
          <p:nvPr/>
        </p:nvSpPr>
        <p:spPr>
          <a:xfrm>
            <a:off x="5131650" y="23175"/>
            <a:ext cx="39957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260381" y="2031122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9</a:t>
            </a:r>
            <a:endParaRPr sz="1100"/>
          </a:p>
        </p:txBody>
      </p:sp>
      <p:sp>
        <p:nvSpPr>
          <p:cNvPr id="496" name="Google Shape;496;p45"/>
          <p:cNvSpPr txBox="1"/>
          <p:nvPr/>
        </p:nvSpPr>
        <p:spPr>
          <a:xfrm>
            <a:off x="6151193" y="2066300"/>
            <a:ext cx="292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7" name="Google Shape;497;p45"/>
          <p:cNvCxnSpPr/>
          <p:nvPr/>
        </p:nvCxnSpPr>
        <p:spPr>
          <a:xfrm flipH="1" rot="10800000">
            <a:off x="5325469" y="2320256"/>
            <a:ext cx="3753000" cy="111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45"/>
          <p:cNvSpPr txBox="1"/>
          <p:nvPr/>
        </p:nvSpPr>
        <p:spPr>
          <a:xfrm>
            <a:off x="7222249" y="3506860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45"/>
          <p:cNvCxnSpPr/>
          <p:nvPr/>
        </p:nvCxnSpPr>
        <p:spPr>
          <a:xfrm>
            <a:off x="5325469" y="3711263"/>
            <a:ext cx="3641100" cy="213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5"/>
          <p:cNvSpPr txBox="1"/>
          <p:nvPr/>
        </p:nvSpPr>
        <p:spPr>
          <a:xfrm>
            <a:off x="174656" y="2237588"/>
            <a:ext cx="39006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Gamification (streaks) motivates more than premium status.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1" name="Google Shape;501;p45"/>
          <p:cNvCxnSpPr/>
          <p:nvPr/>
        </p:nvCxnSpPr>
        <p:spPr>
          <a:xfrm flipH="1" rot="10800000">
            <a:off x="260381" y="3717263"/>
            <a:ext cx="4101900" cy="9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45"/>
          <p:cNvSpPr txBox="1"/>
          <p:nvPr/>
        </p:nvSpPr>
        <p:spPr>
          <a:xfrm>
            <a:off x="5710819" y="2320331"/>
            <a:ext cx="3304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"I think it will be really interesting to do friend streaks like Duolingo, I will definitely log on more frequently.”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45"/>
          <p:cNvSpPr txBox="1"/>
          <p:nvPr/>
        </p:nvSpPr>
        <p:spPr>
          <a:xfrm>
            <a:off x="5550300" y="2688164"/>
            <a:ext cx="3466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"When I used a dating app platform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‘Tantan,’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 China, matched partners can play games embedded in the DM page.”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45"/>
          <p:cNvSpPr txBox="1"/>
          <p:nvPr/>
        </p:nvSpPr>
        <p:spPr>
          <a:xfrm>
            <a:off x="5846254" y="4109306"/>
            <a:ext cx="3137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Incorporating simple games to facilitate interactions.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45"/>
          <p:cNvSpPr txBox="1"/>
          <p:nvPr/>
        </p:nvSpPr>
        <p:spPr>
          <a:xfrm>
            <a:off x="193706" y="3779944"/>
            <a:ext cx="4168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MORE THAN THREE INTERVIEWEES INDICATED THAT THE INTERACTION CAN BE MORE INTERESTING THROUGH GAMIFICATION.</a:t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45"/>
          <p:cNvSpPr txBox="1"/>
          <p:nvPr/>
        </p:nvSpPr>
        <p:spPr>
          <a:xfrm>
            <a:off x="5777137" y="3022317"/>
            <a:ext cx="3255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"I wish there could be more interaction types other than simply texting.”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45"/>
          <p:cNvSpPr txBox="1"/>
          <p:nvPr/>
        </p:nvSpPr>
        <p:spPr>
          <a:xfrm>
            <a:off x="6151200" y="3701403"/>
            <a:ext cx="2843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'Reply Streaks': Reward 3-day conversation streaks with free Super Likes.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2" name="Google Shape;51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6"/>
          <p:cNvSpPr/>
          <p:nvPr/>
        </p:nvSpPr>
        <p:spPr>
          <a:xfrm>
            <a:off x="5131650" y="23175"/>
            <a:ext cx="3995700" cy="5097300"/>
          </a:xfrm>
          <a:prstGeom prst="rect">
            <a:avLst/>
          </a:prstGeom>
          <a:solidFill>
            <a:srgbClr val="FD3C72"/>
          </a:solidFill>
          <a:ln cap="flat" cmpd="sng" w="7150">
            <a:solidFill>
              <a:srgbClr val="FD3C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6"/>
          <p:cNvSpPr txBox="1"/>
          <p:nvPr/>
        </p:nvSpPr>
        <p:spPr>
          <a:xfrm>
            <a:off x="260381" y="2031122"/>
            <a:ext cx="390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INSIGHT 10</a:t>
            </a:r>
            <a:endParaRPr sz="1100"/>
          </a:p>
        </p:txBody>
      </p:sp>
      <p:sp>
        <p:nvSpPr>
          <p:cNvPr id="515" name="Google Shape;515;p46"/>
          <p:cNvSpPr txBox="1"/>
          <p:nvPr/>
        </p:nvSpPr>
        <p:spPr>
          <a:xfrm>
            <a:off x="6151193" y="2066300"/>
            <a:ext cx="292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Qualitative Interview Responses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6" name="Google Shape;516;p46"/>
          <p:cNvCxnSpPr/>
          <p:nvPr/>
        </p:nvCxnSpPr>
        <p:spPr>
          <a:xfrm flipH="1" rot="10800000">
            <a:off x="5325469" y="2320256"/>
            <a:ext cx="3753000" cy="111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6"/>
          <p:cNvSpPr txBox="1"/>
          <p:nvPr/>
        </p:nvSpPr>
        <p:spPr>
          <a:xfrm>
            <a:off x="7222249" y="3506860"/>
            <a:ext cx="17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b="1" sz="800">
              <a:solidFill>
                <a:srgbClr val="1E1E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8" name="Google Shape;518;p46"/>
          <p:cNvCxnSpPr/>
          <p:nvPr/>
        </p:nvCxnSpPr>
        <p:spPr>
          <a:xfrm>
            <a:off x="5325469" y="3711263"/>
            <a:ext cx="3641100" cy="21300"/>
          </a:xfrm>
          <a:prstGeom prst="straightConnector1">
            <a:avLst/>
          </a:prstGeom>
          <a:noFill/>
          <a:ln cap="flat" cmpd="sng" w="7150">
            <a:solidFill>
              <a:srgbClr val="1E1E1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46"/>
          <p:cNvSpPr txBox="1"/>
          <p:nvPr/>
        </p:nvSpPr>
        <p:spPr>
          <a:xfrm>
            <a:off x="174650" y="2237600"/>
            <a:ext cx="39957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find bio writing tedious but fear AI inauthenticity.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0" name="Google Shape;520;p46"/>
          <p:cNvCxnSpPr/>
          <p:nvPr/>
        </p:nvCxnSpPr>
        <p:spPr>
          <a:xfrm flipH="1" rot="10800000">
            <a:off x="260381" y="3717263"/>
            <a:ext cx="4101900" cy="93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6"/>
          <p:cNvSpPr txBox="1"/>
          <p:nvPr/>
        </p:nvSpPr>
        <p:spPr>
          <a:xfrm>
            <a:off x="5192851" y="2320325"/>
            <a:ext cx="382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"To me, it feels like constructing a profile is very time-consuming.”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46"/>
          <p:cNvSpPr txBox="1"/>
          <p:nvPr/>
        </p:nvSpPr>
        <p:spPr>
          <a:xfrm>
            <a:off x="5528525" y="2524745"/>
            <a:ext cx="3466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"I don’t need an AI to help me with writing my bios because AI doesn’t know me at 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all.”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5710819" y="3721135"/>
            <a:ext cx="3289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autofilling to improve efficiency of making a profile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6"/>
          <p:cNvSpPr txBox="1"/>
          <p:nvPr/>
        </p:nvSpPr>
        <p:spPr>
          <a:xfrm>
            <a:off x="5795075" y="3918175"/>
            <a:ext cx="3199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suggestions on how to improve the profiles in order to 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attract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new matches.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193706" y="3779944"/>
            <a:ext cx="41685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WHEN ASKED ABOUT USING AI TO CUSTOMIZE BIOS, PARTICIPANTS ARE SUSPICIOUS ABOUT IT AND THINK IT IS UNNECESSARY TO RECEIVE HELP FROM AI WHILE ADMITTING CONSTRUCTING A PROFILE IS VERY TIME-CONSUMING.</a:t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D29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5747532" y="2876833"/>
            <a:ext cx="3255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"AI can give suggestions for filling out 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information,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but I don’t want it to write it for 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me."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7"/>
          <p:cNvSpPr txBox="1"/>
          <p:nvPr/>
        </p:nvSpPr>
        <p:spPr>
          <a:xfrm>
            <a:off x="2771700" y="2279243"/>
            <a:ext cx="360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Conclusion</a:t>
            </a:r>
            <a:endParaRPr sz="1100"/>
          </a:p>
        </p:txBody>
      </p:sp>
      <p:sp>
        <p:nvSpPr>
          <p:cNvPr id="534" name="Google Shape;534;p47"/>
          <p:cNvSpPr txBox="1"/>
          <p:nvPr/>
        </p:nvSpPr>
        <p:spPr>
          <a:xfrm>
            <a:off x="3625453" y="3384686"/>
            <a:ext cx="1893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1A1AA"/>
                </a:solidFill>
                <a:latin typeface="Roboto"/>
                <a:ea typeface="Roboto"/>
                <a:cs typeface="Roboto"/>
                <a:sym typeface="Roboto"/>
              </a:rPr>
              <a:t>Roadmap and next steps</a:t>
            </a:r>
            <a:endParaRPr sz="1100"/>
          </a:p>
        </p:txBody>
      </p:sp>
      <p:pic>
        <p:nvPicPr>
          <p:cNvPr descr="image.png" id="535" name="Google Shape;53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675" y="1355861"/>
            <a:ext cx="62865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0" name="Google Shape;54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238" y="942975"/>
            <a:ext cx="2619412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963" y="942975"/>
            <a:ext cx="26193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8"/>
          <p:cNvSpPr txBox="1"/>
          <p:nvPr/>
        </p:nvSpPr>
        <p:spPr>
          <a:xfrm>
            <a:off x="685800" y="1228725"/>
            <a:ext cx="2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Short Term</a:t>
            </a:r>
            <a:endParaRPr sz="1100"/>
          </a:p>
        </p:txBody>
      </p:sp>
      <p:sp>
        <p:nvSpPr>
          <p:cNvPr id="545" name="Google Shape;545;p48"/>
          <p:cNvSpPr txBox="1"/>
          <p:nvPr/>
        </p:nvSpPr>
        <p:spPr>
          <a:xfrm>
            <a:off x="3519413" y="1228725"/>
            <a:ext cx="221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Mid Term</a:t>
            </a:r>
            <a:endParaRPr sz="1100"/>
          </a:p>
        </p:txBody>
      </p:sp>
      <p:sp>
        <p:nvSpPr>
          <p:cNvPr id="546" name="Google Shape;546;p48"/>
          <p:cNvSpPr txBox="1"/>
          <p:nvPr/>
        </p:nvSpPr>
        <p:spPr>
          <a:xfrm>
            <a:off x="6353138" y="1228725"/>
            <a:ext cx="2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Long Term</a:t>
            </a:r>
            <a:endParaRPr sz="1100"/>
          </a:p>
        </p:txBody>
      </p:sp>
      <p:sp>
        <p:nvSpPr>
          <p:cNvPr id="547" name="Google Shape;547;p48"/>
          <p:cNvSpPr txBox="1"/>
          <p:nvPr/>
        </p:nvSpPr>
        <p:spPr>
          <a:xfrm>
            <a:off x="1257300" y="1671638"/>
            <a:ext cx="153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Fix "match-loss" glitches.</a:t>
            </a:r>
            <a:endParaRPr sz="1100"/>
          </a:p>
        </p:txBody>
      </p:sp>
      <p:sp>
        <p:nvSpPr>
          <p:cNvPr id="548" name="Google Shape;548;p48"/>
          <p:cNvSpPr txBox="1"/>
          <p:nvPr/>
        </p:nvSpPr>
        <p:spPr>
          <a:xfrm>
            <a:off x="1257300" y="2352972"/>
            <a:ext cx="153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Add "Deep Dive" prompt cards in chat.</a:t>
            </a:r>
            <a:endParaRPr sz="1100"/>
          </a:p>
        </p:txBody>
      </p:sp>
      <p:sp>
        <p:nvSpPr>
          <p:cNvPr id="549" name="Google Shape;549;p48"/>
          <p:cNvSpPr txBox="1"/>
          <p:nvPr/>
        </p:nvSpPr>
        <p:spPr>
          <a:xfrm>
            <a:off x="1257300" y="3034307"/>
            <a:ext cx="153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Implement "Ghosting" micro-feedback.</a:t>
            </a:r>
            <a:endParaRPr sz="1100"/>
          </a:p>
        </p:txBody>
      </p:sp>
      <p:sp>
        <p:nvSpPr>
          <p:cNvPr id="550" name="Google Shape;550;p48"/>
          <p:cNvSpPr txBox="1"/>
          <p:nvPr/>
        </p:nvSpPr>
        <p:spPr>
          <a:xfrm>
            <a:off x="4090913" y="1671638"/>
            <a:ext cx="153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"Send This?" opener suggestions.</a:t>
            </a:r>
            <a:endParaRPr sz="1100"/>
          </a:p>
        </p:txBody>
      </p:sp>
      <p:sp>
        <p:nvSpPr>
          <p:cNvPr id="551" name="Google Shape;551;p48"/>
          <p:cNvSpPr txBox="1"/>
          <p:nvPr/>
        </p:nvSpPr>
        <p:spPr>
          <a:xfrm>
            <a:off x="4090913" y="2352972"/>
            <a:ext cx="1533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Nudges for habitual swipers ("Start 1 conversation").</a:t>
            </a:r>
            <a:endParaRPr sz="1100"/>
          </a:p>
        </p:txBody>
      </p:sp>
      <p:sp>
        <p:nvSpPr>
          <p:cNvPr id="552" name="Google Shape;552;p48"/>
          <p:cNvSpPr txBox="1"/>
          <p:nvPr/>
        </p:nvSpPr>
        <p:spPr>
          <a:xfrm>
            <a:off x="4090913" y="3285678"/>
            <a:ext cx="1533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Queer-specific tag updates.</a:t>
            </a:r>
            <a:endParaRPr sz="1100"/>
          </a:p>
        </p:txBody>
      </p:sp>
      <p:sp>
        <p:nvSpPr>
          <p:cNvPr id="553" name="Google Shape;553;p48"/>
          <p:cNvSpPr txBox="1"/>
          <p:nvPr/>
        </p:nvSpPr>
        <p:spPr>
          <a:xfrm>
            <a:off x="6924638" y="1671638"/>
            <a:ext cx="153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Launch "AI Co-Pilot" Premium tier.</a:t>
            </a:r>
            <a:endParaRPr sz="1100"/>
          </a:p>
        </p:txBody>
      </p:sp>
      <p:sp>
        <p:nvSpPr>
          <p:cNvPr id="554" name="Google Shape;554;p48"/>
          <p:cNvSpPr txBox="1"/>
          <p:nvPr/>
        </p:nvSpPr>
        <p:spPr>
          <a:xfrm>
            <a:off x="6924638" y="2352972"/>
            <a:ext cx="15333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Reframe Gold/Platinum value prop to "Certainty &amp; Connection".</a:t>
            </a:r>
            <a:endParaRPr sz="1100"/>
          </a:p>
        </p:txBody>
      </p:sp>
      <p:sp>
        <p:nvSpPr>
          <p:cNvPr id="555" name="Google Shape;555;p48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Roadmap</a:t>
            </a:r>
            <a:endParaRPr sz="1100"/>
          </a:p>
        </p:txBody>
      </p:sp>
      <p:pic>
        <p:nvPicPr>
          <p:cNvPr descr="image.png" id="556" name="Google Shape;556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1700213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381547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062882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5163" y="1700213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5163" y="2381547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5163" y="3314253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8888" y="1700213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8888" y="2381547"/>
            <a:ext cx="135731" cy="16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8" name="Google Shape;56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42975"/>
            <a:ext cx="3929063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942975"/>
            <a:ext cx="3929063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9"/>
          <p:cNvSpPr txBox="1"/>
          <p:nvPr/>
        </p:nvSpPr>
        <p:spPr>
          <a:xfrm>
            <a:off x="685800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sz="1100"/>
          </a:p>
        </p:txBody>
      </p:sp>
      <p:sp>
        <p:nvSpPr>
          <p:cNvPr id="572" name="Google Shape;572;p49"/>
          <p:cNvSpPr txBox="1"/>
          <p:nvPr/>
        </p:nvSpPr>
        <p:spPr>
          <a:xfrm>
            <a:off x="685800" y="1657350"/>
            <a:ext cx="34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Sample Size: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N=</a:t>
            </a: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(38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recent). Small sample allows for qualitative depth but limits statistical generalization.</a:t>
            </a:r>
            <a:endParaRPr sz="1100"/>
          </a:p>
        </p:txBody>
      </p:sp>
      <p:sp>
        <p:nvSpPr>
          <p:cNvPr id="573" name="Google Shape;573;p49"/>
          <p:cNvSpPr txBox="1"/>
          <p:nvPr/>
        </p:nvSpPr>
        <p:spPr>
          <a:xfrm>
            <a:off x="685800" y="2628900"/>
            <a:ext cx="34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Self-Report Bias:</a:t>
            </a:r>
            <a:r>
              <a:rPr b="0" i="0" lang="en" sz="11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 Users may under-report passive usage or over-report "noble" intentions (desire for deep talk).</a:t>
            </a:r>
            <a:endParaRPr sz="1100"/>
          </a:p>
        </p:txBody>
      </p:sp>
      <p:sp>
        <p:nvSpPr>
          <p:cNvPr id="574" name="Google Shape;574;p49"/>
          <p:cNvSpPr txBox="1"/>
          <p:nvPr/>
        </p:nvSpPr>
        <p:spPr>
          <a:xfrm>
            <a:off x="5043488" y="1200150"/>
            <a:ext cx="358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D297B"/>
                </a:solidFill>
                <a:latin typeface="Montserrat"/>
                <a:ea typeface="Montserrat"/>
                <a:cs typeface="Montserrat"/>
                <a:sym typeface="Montserrat"/>
              </a:rPr>
              <a:t>Next Research Steps</a:t>
            </a:r>
            <a:endParaRPr sz="1100"/>
          </a:p>
        </p:txBody>
      </p:sp>
      <p:sp>
        <p:nvSpPr>
          <p:cNvPr id="575" name="Google Shape;575;p49"/>
          <p:cNvSpPr txBox="1"/>
          <p:nvPr/>
        </p:nvSpPr>
        <p:spPr>
          <a:xfrm>
            <a:off x="5614988" y="1628775"/>
            <a:ext cx="2843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Usability test of an AI messaging prototype.</a:t>
            </a:r>
            <a:endParaRPr sz="1100"/>
          </a:p>
        </p:txBody>
      </p:sp>
      <p:sp>
        <p:nvSpPr>
          <p:cNvPr id="576" name="Google Shape;576;p49"/>
          <p:cNvSpPr txBox="1"/>
          <p:nvPr/>
        </p:nvSpPr>
        <p:spPr>
          <a:xfrm>
            <a:off x="5614988" y="2310110"/>
            <a:ext cx="2843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Diary study on ghosting impact over 2 weeks.</a:t>
            </a:r>
            <a:endParaRPr sz="1100"/>
          </a:p>
        </p:txBody>
      </p:sp>
      <p:sp>
        <p:nvSpPr>
          <p:cNvPr id="577" name="Google Shape;577;p49"/>
          <p:cNvSpPr txBox="1"/>
          <p:nvPr/>
        </p:nvSpPr>
        <p:spPr>
          <a:xfrm>
            <a:off x="5614988" y="2991445"/>
            <a:ext cx="2843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A/B test of "Conversation Mode" vs. Standard Swipe Mode.</a:t>
            </a:r>
            <a:endParaRPr sz="1100"/>
          </a:p>
        </p:txBody>
      </p:sp>
      <p:sp>
        <p:nvSpPr>
          <p:cNvPr id="578" name="Google Shape;578;p49"/>
          <p:cNvSpPr txBox="1"/>
          <p:nvPr/>
        </p:nvSpPr>
        <p:spPr>
          <a:xfrm>
            <a:off x="428625" y="357188"/>
            <a:ext cx="8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Risks &amp; Limitations</a:t>
            </a:r>
            <a:endParaRPr sz="1100"/>
          </a:p>
        </p:txBody>
      </p:sp>
      <p:pic>
        <p:nvPicPr>
          <p:cNvPr descr="image.png" id="579" name="Google Shape;57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9238" y="1657350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9238" y="2338685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9238" y="3020020"/>
            <a:ext cx="135731" cy="16430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9"/>
          <p:cNvSpPr txBox="1"/>
          <p:nvPr/>
        </p:nvSpPr>
        <p:spPr>
          <a:xfrm>
            <a:off x="587075" y="3471750"/>
            <a:ext cx="36840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Convenience Sampling</a:t>
            </a:r>
            <a:r>
              <a:rPr lang="en" sz="1100">
                <a:solidFill>
                  <a:srgbClr val="D4D4D8"/>
                </a:solidFill>
                <a:latin typeface="Roboto"/>
                <a:ea typeface="Roboto"/>
                <a:cs typeface="Roboto"/>
                <a:sym typeface="Roboto"/>
              </a:rPr>
              <a:t>: Most participants are recruited via researcher’s own social network, and the results may be biased based on ethnicity, location, interests, or economic status</a:t>
            </a:r>
            <a:endParaRPr sz="1100">
              <a:solidFill>
                <a:srgbClr val="D4D4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7" name="Google Shape;58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0"/>
          <p:cNvSpPr txBox="1"/>
          <p:nvPr/>
        </p:nvSpPr>
        <p:spPr>
          <a:xfrm>
            <a:off x="3308959" y="2467800"/>
            <a:ext cx="252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your time</a:t>
            </a:r>
            <a:endParaRPr sz="1100"/>
          </a:p>
        </p:txBody>
      </p:sp>
      <p:pic>
        <p:nvPicPr>
          <p:cNvPr id="590" name="Google Shape;59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231" y="2683197"/>
            <a:ext cx="699552" cy="46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